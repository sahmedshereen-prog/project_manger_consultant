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D5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3D5C"/>
                </a:solidFill>
                <a:latin typeface="Calibri"/>
              </a:rPr>
              <a:t>Churn Rate by Contract Type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D6455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Month-to-month</c:v>
                  </c:pt>
                  <c:pt idx="1">
                    <c:v>One year</c:v>
                  </c:pt>
                  <c:pt idx="2">
                    <c:v>Two year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42.7</c:v>
                </c:pt>
                <c:pt idx="1">
                  <c:v>11.3</c:v>
                </c:pt>
                <c:pt idx="2">
                  <c:v>2.9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24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3D5C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B3D5C"/>
                </a:solidFill>
                <a:latin typeface="Calibri"/>
              </a:rPr>
              <a:t>Churn Rate by Internet Service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%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Fiber optic</c:v>
                  </c:pt>
                  <c:pt idx="1">
                    <c:v>DSL</c:v>
                  </c:pt>
                  <c:pt idx="2">
                    <c:v>No internet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41.9</c:v>
                </c:pt>
                <c:pt idx="1">
                  <c:v>19</c:v>
                </c:pt>
                <c:pt idx="2">
                  <c:v>7.4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24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3D5C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B3D5C"/>
                </a:solidFill>
                <a:latin typeface="Calibri"/>
              </a:rPr>
              <a:t>Churn Rate by Payment Method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%</c:v>
                </c:pt>
              </c:strCache>
            </c:strRef>
          </c:tx>
          <c:spPr>
            <a:solidFill>
              <a:srgbClr val="0B3D5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Electronic check</c:v>
                  </c:pt>
                  <c:pt idx="1">
                    <c:v>Mailed check</c:v>
                  </c:pt>
                  <c:pt idx="2">
                    <c:v>Bank transfer</c:v>
                  </c:pt>
                  <c:pt idx="3">
                    <c:v>Credit card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45.3</c:v>
                </c:pt>
                <c:pt idx="1">
                  <c:v>19.2</c:v>
                </c:pt>
                <c:pt idx="2">
                  <c:v>16.7</c:v>
                </c:pt>
                <c:pt idx="3">
                  <c:v>15.3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724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3D5C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B3D5C"/>
                </a:solidFill>
                <a:latin typeface="Calibri"/>
              </a:rPr>
              <a:t>Churn Rate by Customer Group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%</c:v>
                </c:pt>
              </c:strCache>
            </c:strRef>
          </c:tx>
          <c:spPr>
            <a:solidFill>
              <a:srgbClr val="2E9E6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9E6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6455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962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Group A</c:v>
                  </c:pt>
                  <c:pt idx="1">
                    <c:v>Group B</c:v>
                  </c:pt>
                  <c:pt idx="2">
                    <c:v>Group C</c:v>
                  </c:pt>
                  <c:pt idx="3">
                    <c:v>Group 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44</c:v>
                </c:pt>
                <c:pt idx="2">
                  <c:v>15</c:v>
                </c:pt>
                <c:pt idx="3">
                  <c:v>29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24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D5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3D5C"/>
                </a:solidFill>
                <a:latin typeface="Calibri"/>
              </a:rPr>
              <a:t>Top 8 Factors Behind the Prediction (Weight, 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Total amount spent</c:v>
                  </c:pt>
                  <c:pt idx="1">
                    <c:v>How long they've stayed</c:v>
                  </c:pt>
                  <c:pt idx="2">
                    <c:v>Average monthly spend</c:v>
                  </c:pt>
                  <c:pt idx="3">
                    <c:v>Monthly bill amount</c:v>
                  </c:pt>
                  <c:pt idx="4">
                    <c:v>Month-to-month contract</c:v>
                  </c:pt>
                  <c:pt idx="5">
                    <c:v>Two-year contract</c:v>
                  </c:pt>
                  <c:pt idx="6">
                    <c:v>Fiber internet plan</c:v>
                  </c:pt>
                  <c:pt idx="7">
                    <c:v>Has online security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13.8</c:v>
                </c:pt>
                <c:pt idx="1">
                  <c:v>12.8</c:v>
                </c:pt>
                <c:pt idx="2">
                  <c:v>12.2</c:v>
                </c:pt>
                <c:pt idx="3">
                  <c:v>11.8</c:v>
                </c:pt>
                <c:pt idx="4">
                  <c:v>7.6</c:v>
                </c:pt>
                <c:pt idx="5">
                  <c:v>4.1</c:v>
                </c:pt>
                <c:pt idx="6">
                  <c:v>2.5</c:v>
                </c:pt>
                <c:pt idx="7">
                  <c:v>2.1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24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4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023360"/>
            <a:ext cx="320040" cy="1097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195560" y="3383280"/>
            <a:ext cx="320040" cy="1737360"/>
          </a:xfrm>
          <a:prstGeom prst="rect">
            <a:avLst/>
          </a:prstGeom>
          <a:solidFill>
            <a:srgbClr val="2C6E8E"/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2743200"/>
            <a:ext cx="320040" cy="2377440"/>
          </a:xfrm>
          <a:prstGeom prst="rect">
            <a:avLst/>
          </a:prstGeom>
          <a:solidFill>
            <a:srgbClr val="3D82A0"/>
          </a:solidFill>
          <a:ln/>
        </p:spPr>
      </p:sp>
      <p:sp>
        <p:nvSpPr>
          <p:cNvPr id="5" name="Shape 3"/>
          <p:cNvSpPr/>
          <p:nvPr/>
        </p:nvSpPr>
        <p:spPr>
          <a:xfrm>
            <a:off x="11201400" y="2103120"/>
            <a:ext cx="320040" cy="3017520"/>
          </a:xfrm>
          <a:prstGeom prst="rect">
            <a:avLst/>
          </a:prstGeom>
          <a:solidFill>
            <a:srgbClr val="4E97B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4231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CHURN PREDICTION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About to Leave — and What We Can Do About It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397764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 briefing on churn risk, key findings, and retention recommendations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617720"/>
            <a:ext cx="128016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Salma  &amp;  Maya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6263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3D5C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0195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54480" y="1920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2304288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customer churn matters and what we set out to do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3D5C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190195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178040" y="1920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the Data Right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78040" y="2304288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 issues we caught before trusting any results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3D5C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41071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554480" y="3429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54480" y="3813048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patterns behind why customers leave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324612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3D5C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0" y="341071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178040" y="3429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Groups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78040" y="3813048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distinct customer types and their risk levels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75488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3D5C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491947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554480" y="49377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It Works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54480" y="5321808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prediction system's real-world performance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475488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3D5C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0" y="491947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178040" y="49377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178040" y="5321808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company should actually do next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475720" y="65379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Churned Customer Is Revenue Walking Out the Door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852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teams can act — with offers, outreach, or service fixes — but only if they know who is at risk before the customer actually cancels. Acting after the fact is too late.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5852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system that flags which customers are likely to leave, explains why in plain terms, and groups similar customers together — so account managers can prioritize outreach with confidence.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903720" y="1417320"/>
            <a:ext cx="4709160" cy="4480560"/>
          </a:xfrm>
          <a:prstGeom prst="roundRect">
            <a:avLst>
              <a:gd name="adj" fmla="val 2041"/>
            </a:avLst>
          </a:prstGeom>
          <a:solidFill>
            <a:srgbClr val="0B3D5C"/>
          </a:solidFill>
          <a:ln/>
          <a:effectLst>
            <a:outerShdw sx="100000" sy="100000" kx="0" ky="0" algn="bl" rotWithShape="0" blurRad="101600" dist="38100" dir="5400000">
              <a:srgbClr val="0B3D5C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03720" y="182880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26.6%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7178040" y="278892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in our dataset churned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52360" y="3429000"/>
            <a:ext cx="3611880" cy="0"/>
          </a:xfrm>
          <a:prstGeom prst="line">
            <a:avLst/>
          </a:prstGeom>
          <a:noFill/>
          <a:ln w="12700">
            <a:solidFill>
              <a:srgbClr val="2C5A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03720" y="365760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7,032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7178040" y="425196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 analyzed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52360" y="4800600"/>
            <a:ext cx="3611880" cy="0"/>
          </a:xfrm>
          <a:prstGeom prst="line">
            <a:avLst/>
          </a:prstGeom>
          <a:noFill/>
          <a:ln w="12700">
            <a:solidFill>
              <a:srgbClr val="2C5A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502920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4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178040" y="562356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leave — a preventable revenue loss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75720" y="65379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THE DATA RIGHT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Caught a Problem That Would Have Faked Our 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25780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3D5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37360"/>
            <a:ext cx="457200" cy="45720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175564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pieces of information in the data were secretly derived from customer feedback written after the churn decision was already known. In effect, the system was being shown a disguised version of the answer.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886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420624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trained this way would look impressively accurate in testing, then fail in the real world — real customers don't come with a pre-written confession that they're leaving.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1463040"/>
            <a:ext cx="557784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3D5C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1737360"/>
            <a:ext cx="457200" cy="457200"/>
          </a:xfrm>
          <a:prstGeom prst="ellipse">
            <a:avLst/>
          </a:prstGeom>
          <a:solidFill>
            <a:srgbClr val="2E9E6D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949440" y="175564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5080" y="233172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pieces of leaked information were removed before any analysis began. We built in automatic safety checks that stop the process entirely if either one ever slips back in.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55080" y="384048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0" y="404164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40416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32320" y="3977640"/>
            <a:ext cx="4114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every number in this deck reflects only information that would genuinely be available before a customer decides to leave — nothing borrowed from hindsight.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75720" y="65379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THE DATA RIGHT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First Comparison Wasn't a Fair Test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25780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3D5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37360"/>
            <a:ext cx="457200" cy="45720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175564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tried a few different approaches to building the prediction system, but early on each one was tested on a different, randomly-chosen group of customers.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657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3977640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results measured on two different groups of customers isn't a fair comparison — it's like judging two students on two different exams and calling it a tie-breaker.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1463040"/>
            <a:ext cx="557784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3D5C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1737360"/>
            <a:ext cx="457200" cy="457200"/>
          </a:xfrm>
          <a:prstGeom prst="ellipse">
            <a:avLst/>
          </a:prstGeom>
          <a:solidFill>
            <a:srgbClr val="2E9E6D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949440" y="175564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5080" y="233172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locked every approach to the exact same group of customers for testing, so results are compared apples-to-apples before picking a winner.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55080" y="3749040"/>
            <a:ext cx="5029200" cy="621792"/>
          </a:xfrm>
          <a:prstGeom prst="roundRect">
            <a:avLst>
              <a:gd name="adj" fmla="val 8824"/>
            </a:avLst>
          </a:prstGeom>
          <a:solidFill>
            <a:srgbClr val="F4F7F9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3803904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build the system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46920" y="3803904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~4,922 customers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55080" y="4462272"/>
            <a:ext cx="5029200" cy="621792"/>
          </a:xfrm>
          <a:prstGeom prst="roundRect">
            <a:avLst>
              <a:gd name="adj" fmla="val 8824"/>
            </a:avLst>
          </a:prstGeom>
          <a:solidFill>
            <a:srgbClr val="F4F7F9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4517136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back for fine-tuning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46920" y="4517136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~869 customers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55080" y="5175504"/>
            <a:ext cx="5029200" cy="621792"/>
          </a:xfrm>
          <a:prstGeom prst="roundRect">
            <a:avLst>
              <a:gd name="adj" fmla="val 8824"/>
            </a:avLst>
          </a:prstGeom>
          <a:solidFill>
            <a:srgbClr val="F4F7F9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5230368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only for the final, honest test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46920" y="5230368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1,407 customers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75720" y="65379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 Type Is the #1 Churn Signal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54864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355080" y="146304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5400000">
              <a:srgbClr val="0B3D5C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629400" y="1691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is stark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629400" y="210312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customers churn at 15x the rate of two-year contract holders (42.7% vs. 2.9%). Contract length is the single strongest lever the business already controls.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629400" y="3337560"/>
            <a:ext cx="4709160" cy="0"/>
          </a:xfrm>
          <a:prstGeom prst="line">
            <a:avLst/>
          </a:prstGeom>
          <a:noFill/>
          <a:ln w="12700">
            <a:solidFill>
              <a:srgbClr val="D8E1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29400" y="35204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tells the same story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629400" y="3931920"/>
            <a:ext cx="4709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in their first 12 months churn at 47.7% — dropping to just 9.5% after 48+ months. The first year is the highest-risk, highest-opportunity window.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475720" y="65379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Type &amp; Payment Method Also Predict Risk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534924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48640" y="3931920"/>
          <a:ext cx="53492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6172200" y="1417320"/>
            <a:ext cx="5440680" cy="4892040"/>
          </a:xfrm>
          <a:prstGeom prst="roundRect">
            <a:avLst>
              <a:gd name="adj" fmla="val 1869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5400000">
              <a:srgbClr val="0B3D5C">
                <a:alpha val="18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644652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between the lines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446520" y="2057400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 customers churn more than double the rate of DSL customers — worth investigating whether this is pricing, reliability, or competitive pressure specific to fiber markets.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446520" y="3383280"/>
            <a:ext cx="4937760" cy="0"/>
          </a:xfrm>
          <a:prstGeom prst="line">
            <a:avLst/>
          </a:prstGeom>
          <a:noFill/>
          <a:ln w="12700">
            <a:solidFill>
              <a:srgbClr val="D8E1E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46520" y="356616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paying by manual check churn 3x more than customers on autopay. Manual monthly payment is itself a friction point — and a churn signal that's easy to act on.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46520" y="4937760"/>
            <a:ext cx="4937760" cy="0"/>
          </a:xfrm>
          <a:prstGeom prst="line">
            <a:avLst/>
          </a:prstGeom>
          <a:noFill/>
          <a:ln w="12700">
            <a:solidFill>
              <a:srgbClr val="D8E1E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446520" y="512064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citizens churn nearly twice as often as other customers (41.7% vs. 23.7%) — a segment that may need simpler plans or more support.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475720" y="65379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GROUPS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Customer Types, One Clear Priority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5029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25196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formed automatically based on how long customers stay, what they pay, and how many services they use.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806440" y="1417320"/>
            <a:ext cx="58064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3D5C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806440" y="1417320"/>
            <a:ext cx="82296" cy="1170432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8" name="Text 5"/>
          <p:cNvSpPr/>
          <p:nvPr/>
        </p:nvSpPr>
        <p:spPr>
          <a:xfrm>
            <a:off x="6035040" y="1508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 — Highest Risk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035040" y="18013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 of customers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035040" y="20756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New-ish, high monthly bill, several services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784080" y="17373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44% churn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806440" y="2715768"/>
            <a:ext cx="58064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3D5C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06440" y="2715768"/>
            <a:ext cx="82296" cy="1170432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4" name="Text 11"/>
          <p:cNvSpPr/>
          <p:nvPr/>
        </p:nvSpPr>
        <p:spPr>
          <a:xfrm>
            <a:off x="6035040" y="28072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 — New &amp; Cautious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035040" y="30998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 of customers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035040" y="337413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new, low bill, few services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9784080" y="3035808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29% churn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5806440" y="4014216"/>
            <a:ext cx="58064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3D5C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806440" y="4014216"/>
            <a:ext cx="82296" cy="1170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7"/>
          <p:cNvSpPr/>
          <p:nvPr/>
        </p:nvSpPr>
        <p:spPr>
          <a:xfrm>
            <a:off x="6035040" y="410565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 — Loyal &amp; High-Value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035040" y="43982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of customers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035040" y="46725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Long-time, high bill, many services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9784080" y="4334256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 churn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5806440" y="5312664"/>
            <a:ext cx="58064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3D5C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806440" y="5312664"/>
            <a:ext cx="82296" cy="1170432"/>
          </a:xfrm>
          <a:prstGeom prst="rect">
            <a:avLst/>
          </a:prstGeom>
          <a:solidFill>
            <a:srgbClr val="2E9E6D"/>
          </a:solidFill>
          <a:ln/>
        </p:spPr>
      </p:sp>
      <p:sp>
        <p:nvSpPr>
          <p:cNvPr id="26" name="Text 23"/>
          <p:cNvSpPr/>
          <p:nvPr/>
        </p:nvSpPr>
        <p:spPr>
          <a:xfrm>
            <a:off x="6035040" y="54041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 — Safest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035040" y="56967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 of customers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035040" y="59710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Long-time, low bill, few services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9784080" y="5632704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9E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4% churn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11475720" y="65379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It Actually Catch At-Risk Customers?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tested several approaches on the same 1,407 held-out customers and picked the one that performs best for this business goal.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0F4A6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9456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Rate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310128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who actually left were correctly flagged in advance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196596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0F4A6E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219456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389120" y="29718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3310128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predictions — stay or leave — were correct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0" y="196596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0F4A6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219456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229600" y="29718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Score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03920" y="3310128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the system ranks high-risk vs. low-risk customers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526280"/>
            <a:ext cx="11064240" cy="1645920"/>
          </a:xfrm>
          <a:prstGeom prst="roundRect">
            <a:avLst>
              <a:gd name="adj" fmla="val 5556"/>
            </a:avLst>
          </a:prstGeom>
          <a:solidFill>
            <a:srgbClr val="0F4A6E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709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prioritized Catch Rate over squeezing out fewer false alarms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502920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DC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approach we tested had higher overall accuracy but only caught about 46% of customers who actually left — missing more than half of them. For a retention program, missing a real churner costs far more than one extra phone call to a customer who was going to stay anyway. We chose the approach that catches the most at-risk customers.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75720" y="65379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1,407 Real Predictions Actually Look Like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383280" y="1554480"/>
            <a:ext cx="2395728" cy="320040"/>
          </a:xfrm>
          <a:prstGeom prst="roundRect">
            <a:avLst>
              <a:gd name="adj" fmla="val 11429"/>
            </a:avLst>
          </a:prstGeom>
          <a:solidFill>
            <a:srgbClr val="0B3D5C"/>
          </a:solidFill>
          <a:ln/>
        </p:spPr>
      </p:sp>
      <p:sp>
        <p:nvSpPr>
          <p:cNvPr id="5" name="Text 3"/>
          <p:cNvSpPr/>
          <p:nvPr/>
        </p:nvSpPr>
        <p:spPr>
          <a:xfrm>
            <a:off x="3383280" y="155448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WILL STAY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852160" y="1554480"/>
            <a:ext cx="2395728" cy="320040"/>
          </a:xfrm>
          <a:prstGeom prst="roundRect">
            <a:avLst>
              <a:gd name="adj" fmla="val 11429"/>
            </a:avLst>
          </a:prstGeom>
          <a:solidFill>
            <a:srgbClr val="0B3D5C"/>
          </a:solidFill>
          <a:ln/>
        </p:spPr>
      </p:sp>
      <p:sp>
        <p:nvSpPr>
          <p:cNvPr id="7" name="Text 5"/>
          <p:cNvSpPr/>
          <p:nvPr/>
        </p:nvSpPr>
        <p:spPr>
          <a:xfrm>
            <a:off x="5852160" y="155448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WILL LEAVE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26517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ACTUALLY:</a:t>
            </a:r>
            <a:endParaRPr lang="en-US" sz="13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566160"/>
            <a:ext cx="26517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ACTUALLY:</a:t>
            </a:r>
            <a:endParaRPr lang="en-US" sz="13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1965960"/>
            <a:ext cx="2395728" cy="1527048"/>
          </a:xfrm>
          <a:prstGeom prst="roundRect">
            <a:avLst>
              <a:gd name="adj" fmla="val 3593"/>
            </a:avLst>
          </a:prstGeom>
          <a:solidFill>
            <a:srgbClr val="F4F7F9"/>
          </a:solidFill>
          <a:ln w="25400">
            <a:solidFill>
              <a:srgbClr val="2E9E6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2130552"/>
            <a:ext cx="23957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9E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745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520440" y="2834640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predicted to stay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52160" y="1965960"/>
            <a:ext cx="2395728" cy="1527048"/>
          </a:xfrm>
          <a:prstGeom prst="roundRect">
            <a:avLst>
              <a:gd name="adj" fmla="val 3593"/>
            </a:avLst>
          </a:prstGeom>
          <a:solidFill>
            <a:srgbClr val="F4F7F9"/>
          </a:solidFill>
          <a:ln w="25400">
            <a:solidFill>
              <a:srgbClr val="C996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0" y="2130552"/>
            <a:ext cx="23957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288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989320" y="2834640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 — flagged but stayed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83280" y="3566160"/>
            <a:ext cx="2395728" cy="1527048"/>
          </a:xfrm>
          <a:prstGeom prst="roundRect">
            <a:avLst>
              <a:gd name="adj" fmla="val 3593"/>
            </a:avLst>
          </a:prstGeom>
          <a:solidFill>
            <a:srgbClr val="F4F7F9"/>
          </a:solidFill>
          <a:ln w="25400">
            <a:solidFill>
              <a:srgbClr val="D645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3730752"/>
            <a:ext cx="23957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3520440" y="4434840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— biggest business risk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52160" y="3566160"/>
            <a:ext cx="2395728" cy="1527048"/>
          </a:xfrm>
          <a:prstGeom prst="roundRect">
            <a:avLst>
              <a:gd name="adj" fmla="val 3593"/>
            </a:avLst>
          </a:prstGeom>
          <a:solidFill>
            <a:srgbClr val="F4F7F9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0" y="3730752"/>
            <a:ext cx="23957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306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5989320" y="4434840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caught before leaving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5303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(Based on the system's real performance on 1,407 customers it had never seen before.)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595360" y="1554480"/>
            <a:ext cx="3017520" cy="3611880"/>
          </a:xfrm>
          <a:prstGeom prst="roundRect">
            <a:avLst>
              <a:gd name="adj" fmla="val 3030"/>
            </a:avLst>
          </a:prstGeom>
          <a:solidFill>
            <a:srgbClr val="0B3D5C"/>
          </a:solidFill>
          <a:ln/>
          <a:effectLst>
            <a:outerShdw sx="100000" sy="100000" kx="0" ky="0" algn="bl" rotWithShape="0" blurRad="101600" dist="38100" dir="5400000">
              <a:srgbClr val="0B3D5C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823960" y="1783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823960" y="2167128"/>
            <a:ext cx="2560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C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every ~374 customers who actually left, the system correctly flags about 306 of them (82%) in advance — giving the retention team a real shot at saving them.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475720" y="65379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Drives the Prediction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9494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463040"/>
            <a:ext cx="3840480" cy="4572000"/>
          </a:xfrm>
          <a:prstGeom prst="roundRect">
            <a:avLst>
              <a:gd name="adj" fmla="val 2381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5400000">
              <a:srgbClr val="0B3D5C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46720" y="1691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46720" y="210312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and time dominate: how much a customer has spent, how long they've stayed, and their monthly bill together account for over half of what drives the prediction.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046720" y="3520440"/>
            <a:ext cx="3291840" cy="0"/>
          </a:xfrm>
          <a:prstGeom prst="line">
            <a:avLst/>
          </a:prstGeom>
          <a:noFill/>
          <a:ln w="12700">
            <a:solidFill>
              <a:srgbClr val="D8E1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0" y="370332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 ranks next — confirming the earlier finding that month-to-month customers are the priority group for retention offers.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475720" y="65379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Company Should Do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3D5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56232"/>
            <a:ext cx="822960" cy="822960"/>
          </a:xfrm>
          <a:prstGeom prst="ellipse">
            <a:avLst/>
          </a:prstGeom>
          <a:solidFill>
            <a:srgbClr val="2E9E6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5623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874520" y="1728216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Incentivize longer contracts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74520" y="210312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 modest discount or perk for month-to-month customers who switch to a 1- or 2-year plan — this is the single highest-leverage lever we found (42.7% → 2.9% churn).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3D5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364992"/>
            <a:ext cx="822960" cy="822960"/>
          </a:xfrm>
          <a:prstGeom prst="ellipse">
            <a:avLst/>
          </a:prstGeom>
          <a:solidFill>
            <a:srgbClr val="2E9E6D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36499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874520" y="3236976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customers off manual payments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74520" y="361188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 small incentive (e.g. one month's discount) for enrolling in autopay via bank transfer or credit card, which show 3x lower churn.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3D5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873752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87375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874520" y="4745736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first-year onboarding program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874520" y="512064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47.7% of first-year customers churn. Proactive check-ins at 30/90/180 days could catch dissatisfaction before it becomes cancellation.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475720" y="65379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This Into a Daily Retention Tool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3D5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56232"/>
            <a:ext cx="822960" cy="82296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5623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874520" y="1728216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Group B for proactive outreach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74520" y="210312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group (33% of customers, 44% churn) is short-tenure and high-spend — the most valuable customers still deciding whether to stay. Route them to the retention team first.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3D5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364992"/>
            <a:ext cx="822960" cy="822960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36499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874520" y="3236976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fiber plan pricing &amp; reliability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74520" y="361188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41.9% churn on fiber vs. 19.0% on DSL is too large a gap to ignore — a focused customer-experience review of the fiber product is worth the investment.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3D5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873752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87375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874520" y="4745736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senior-friendly support options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874520" y="512064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citizens churn at nearly 2x the rate of other customers (41.7% vs. 23.7%) — simplified billing and a dedicated support line could close this gap.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475720" y="65379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System Doesn't Do Yet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3D5C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157984"/>
            <a:ext cx="82296" cy="82296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029968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come from one held-out test group, not repeated testing — real-world scores may shift slightly.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3054096"/>
            <a:ext cx="82296" cy="82296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92608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churn is a minority outcome (27% of customers), the system will always flag more false alarms than a purely balanced problem would.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3950208"/>
            <a:ext cx="82296" cy="82296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822192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predicts risk, not the reason a specific customer will leave — it points to patterns, not guarantees.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4846320"/>
            <a:ext cx="82296" cy="82296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718304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recommended action (e.g. a contract discount) should be tested on a small group first before rolling out company-wide.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0B3D5C"/>
          </a:solidFill>
          <a:ln/>
          <a:effectLst>
            <a:outerShdw sx="100000" sy="100000" kx="0" ky="0" algn="bl" rotWithShape="0" blurRad="101600" dist="38100" dir="5400000">
              <a:srgbClr val="0B3D5C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37960" y="2157984"/>
            <a:ext cx="82296" cy="82296"/>
          </a:xfrm>
          <a:prstGeom prst="ellipse">
            <a:avLst/>
          </a:prstGeom>
          <a:solidFill>
            <a:srgbClr val="2E9E6D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2029968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C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 on multiple customer samples to report a confidence range, not just a single score.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37960" y="3054096"/>
            <a:ext cx="82296" cy="82296"/>
          </a:xfrm>
          <a:prstGeom prst="ellipse">
            <a:avLst/>
          </a:prstGeom>
          <a:solidFill>
            <a:srgbClr val="2E9E6D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292608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C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AI-written feedback with a real, periodic satisfaction survey — collected safely, before churn happens — as a legitimate future signal.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37960" y="3950208"/>
            <a:ext cx="82296" cy="82296"/>
          </a:xfrm>
          <a:prstGeom prst="ellipse">
            <a:avLst/>
          </a:prstGeom>
          <a:solidFill>
            <a:srgbClr val="2E9E6D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3822192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C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the top recommendation (contract incentive) with a control group before rolling out company-wide.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37960" y="4846320"/>
            <a:ext cx="82296" cy="82296"/>
          </a:xfrm>
          <a:prstGeom prst="ellipse">
            <a:avLst/>
          </a:prstGeom>
          <a:solidFill>
            <a:srgbClr val="2E9E6D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4718304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C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the system on a fixed schedule (e.g. quarterly) as customer behavior evolves.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75720" y="65379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297680"/>
            <a:ext cx="320040" cy="1097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234440" y="3657600"/>
            <a:ext cx="320040" cy="1737360"/>
          </a:xfrm>
          <a:prstGeom prst="rect">
            <a:avLst/>
          </a:prstGeom>
          <a:solidFill>
            <a:srgbClr val="2C6E8E"/>
          </a:solidFill>
          <a:ln/>
        </p:spPr>
      </p:sp>
      <p:sp>
        <p:nvSpPr>
          <p:cNvPr id="4" name="Shape 2"/>
          <p:cNvSpPr/>
          <p:nvPr/>
        </p:nvSpPr>
        <p:spPr>
          <a:xfrm>
            <a:off x="1737360" y="3017520"/>
            <a:ext cx="320040" cy="2377440"/>
          </a:xfrm>
          <a:prstGeom prst="rect">
            <a:avLst/>
          </a:prstGeom>
          <a:solidFill>
            <a:srgbClr val="3D82A0"/>
          </a:solidFill>
          <a:ln/>
        </p:spPr>
      </p:sp>
      <p:sp>
        <p:nvSpPr>
          <p:cNvPr id="5" name="Shape 3"/>
          <p:cNvSpPr/>
          <p:nvPr/>
        </p:nvSpPr>
        <p:spPr>
          <a:xfrm>
            <a:off x="2240280" y="2377440"/>
            <a:ext cx="320040" cy="3017520"/>
          </a:xfrm>
          <a:prstGeom prst="rect">
            <a:avLst/>
          </a:prstGeom>
          <a:solidFill>
            <a:srgbClr val="4E97B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46888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B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4114800"/>
            <a:ext cx="128016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Salma  &amp;  Maya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263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Churn Prediction — Capstone Project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475720" y="65379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2026-07-16T11:54:09Z</dcterms:created>
  <dcterms:modified xsi:type="dcterms:W3CDTF">2026-07-16T11:54:09Z</dcterms:modified>
</cp:coreProperties>
</file>